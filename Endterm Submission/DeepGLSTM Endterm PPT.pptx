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anrope"/>
      <p:regular r:id="rId30"/>
      <p:bold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02C7C9-020A-4DDC-BB5F-DFA350C179DC}">
  <a:tblStyle styleId="{8F02C7C9-020A-4DDC-BB5F-DFA350C179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bold.fntdata"/><Relationship Id="rId30" Type="http://schemas.openxmlformats.org/officeDocument/2006/relationships/font" Target="fonts/Manrope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e7b65c72c_0_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eb031f20e_4_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e7b65c72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be7b65c72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e7b65c72c_0_2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5fa52823c_0_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5fa52823c_0_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a94c4ed0_0_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de688e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de688e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8e1049e51d529a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8e1049e51d529a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7fa615df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e7fa615df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7fa615df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7fa615d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b031f20e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b031f20e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e7b65c72c_0_1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e7b65c72c_0_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7fa615df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7fa615df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 1">
  <p:cSld name="Generated Slide 1_1_1_TITLEANDBULLETS_H (g3d62388c013_7_0)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rgbClr val="F2F0E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249775" y="569138"/>
            <a:ext cx="40908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DeepGLSTM 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249775" y="1111150"/>
            <a:ext cx="4449900" cy="8250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Roboto"/>
                <a:ea typeface="Roboto"/>
                <a:cs typeface="Roboto"/>
                <a:sym typeface="Roboto"/>
              </a:rPr>
              <a:t>Transformer-Based Protein Encoding and Multi-Head Attention Fusion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" name="Google Shape;42;p9"/>
          <p:cNvPicPr preferRelativeResize="0"/>
          <p:nvPr/>
        </p:nvPicPr>
        <p:blipFill rotWithShape="1">
          <a:blip r:embed="rId3">
            <a:alphaModFix/>
          </a:blip>
          <a:srcRect b="0" l="19575" r="18421" t="0"/>
          <a:stretch/>
        </p:blipFill>
        <p:spPr>
          <a:xfrm>
            <a:off x="125600" y="873101"/>
            <a:ext cx="3853824" cy="33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/>
        </p:nvSpPr>
        <p:spPr>
          <a:xfrm>
            <a:off x="4133125" y="2227413"/>
            <a:ext cx="4882800" cy="23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Kovvada Dhyana Vardhan (21CS30030)</a:t>
            </a:r>
            <a:b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Research for future work, Making Presentation, Writing the Report</a:t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ing out structure based protein embedding models</a:t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Tanishq Prasad (21CS30054)</a:t>
            </a:r>
            <a:b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Writing the Report, Scripting and Running models on the server, Integration of attention mechanism, Refactoring Presentation </a:t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Ayush Sunil Munot (21ME3FP55) </a:t>
            </a:r>
            <a:b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Integration of ESM, Integration of Experiments, Made a working demo for the presentation</a:t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/>
        </p:nvSpPr>
        <p:spPr>
          <a:xfrm>
            <a:off x="339900" y="196575"/>
            <a:ext cx="84642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Overview and Agenda</a:t>
            </a:r>
            <a:endParaRPr b="1" sz="30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" name="Google Shape;48;p10"/>
          <p:cNvSpPr txBox="1"/>
          <p:nvPr/>
        </p:nvSpPr>
        <p:spPr>
          <a:xfrm>
            <a:off x="283475" y="1290075"/>
            <a:ext cx="8464200" cy="3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Solving the </a:t>
            </a:r>
            <a:r>
              <a:rPr b="1"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drug-target binding</a:t>
            </a: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prediction problem.</a:t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Reviewing previous solutions and their limitations.</a:t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Introduction to the novel </a:t>
            </a:r>
            <a:r>
              <a:rPr b="1"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DeepGLSTM</a:t>
            </a: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model architecture.</a:t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Experimental results, reproduction, and quantitative analysis.</a:t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Discussion of potential improvements and future work.</a:t>
            </a:r>
            <a:endParaRPr sz="190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327575" y="289525"/>
            <a:ext cx="3885000" cy="10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Model architecture of DeepGLSTM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303" y="0"/>
            <a:ext cx="40260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275700" y="1491325"/>
            <a:ext cx="8592600" cy="3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LSTM struggles to capture long-range dependencies.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Concatenation ignores the dynamic interaction between drug and target protein.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Proteins are taken as sequences which leads to loss of structural information of proteins.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Flattening or pooling operations treat all residues equally, which results in information loss of binding pockets.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507450" y="201675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Limitations of existing Model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507450" y="201675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Limitations of existing Model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75700" y="1180000"/>
            <a:ext cx="8592600" cy="3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Model assumes all residues contribute equally, ignoring only specific residues are critical.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Drug molecules are represented without explicit 3D information, this might miss important chemical features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model outputs only scalar affinity value and does not explain which residues or interactions contribute to the binding.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architecture does not explicitly encode spatial or geometric relationships between residues, limits its ability to model real biochemical interactions.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Proposed Improvements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75500" y="1426475"/>
            <a:ext cx="8592600" cy="3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Replacing standard LSTM protein encoder with a pre-trained ESM-2 transformer. This utilizes ESM-2 to obtain information of structural and biological properties of proteins, which is better than LSTM.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Introduced Multi-Head Attention Module which uses dimensional space features and also utilizes cross-attention alongside unified self attention. With Cross-Attention mathematically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mimicking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the physical binding process, the model learns how much a drug is ‘attending’ to a specific global properties of target protein structure.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507450" y="77400"/>
            <a:ext cx="8129100" cy="61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Architecture and Working Demo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4" name="Google Shape;74;p15" title="esm_gcn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007" y="811475"/>
            <a:ext cx="4717992" cy="40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6"/>
          <p:cNvGraphicFramePr/>
          <p:nvPr/>
        </p:nvGraphicFramePr>
        <p:xfrm>
          <a:off x="163188" y="79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{8F02C7C9-020A-4DDC-BB5F-DFA350C179DC}</a:tableStyleId>
              </a:tblPr>
              <a:tblGrid>
                <a:gridCol w="581025"/>
                <a:gridCol w="432625"/>
                <a:gridCol w="797175"/>
                <a:gridCol w="783025"/>
                <a:gridCol w="744600"/>
                <a:gridCol w="439400"/>
                <a:gridCol w="783325"/>
                <a:gridCol w="774000"/>
                <a:gridCol w="774000"/>
                <a:gridCol w="432050"/>
                <a:gridCol w="751250"/>
                <a:gridCol w="751025"/>
                <a:gridCol w="774100"/>
              </a:tblGrid>
              <a:tr h="303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Dataset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MSE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b="1" baseline="30000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12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w/o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with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w/o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with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w/o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 with ESM with attention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(Baseline)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Davis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0.232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0.56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0.55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0.47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0.895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0.75	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0.77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0.680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0.41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KIBA</a:t>
                      </a:r>
                      <a:endParaRPr b="1"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0.133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0.382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0.33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0.29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0.897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0.768	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0.79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0.83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0.792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0.412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0.51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0.58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744225" y="248075"/>
            <a:ext cx="7508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FINAL RESULTS WITH PROPOSED IMPROVEMENTS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63200" y="3989250"/>
            <a:ext cx="8817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MSE: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Measures the average squared difference between predicted and original binding affinity values.</a:t>
            </a:r>
            <a:endParaRPr sz="113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Concordance Index (CI):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Measures if the rank order of predicted and ground-truth 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binding affinity score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consistent.</a:t>
            </a:r>
            <a:endParaRPr sz="113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baseline="-25000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baseline="30000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Evaluates external prediction performance of QSAR(Quantitative Structure-Activity Relationship) models. A model is acceptable if and only if </a:t>
            </a:r>
            <a:r>
              <a:rPr b="1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baseline="-25000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baseline="30000"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13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≥ 0.5</a:t>
            </a:r>
            <a:endParaRPr sz="113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63200" y="3659513"/>
            <a:ext cx="8534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Experiments are run on both Davis and Kiba dataset, with subset frac of 0.3, for 60 epochs. Original paper uses 1000 epochs.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744225" y="248075"/>
            <a:ext cx="7508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Predicted vs Measure Binding Plots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238500" y="3381375"/>
            <a:ext cx="26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Predicted vs Measured Binding Affinity with ESM</a:t>
            </a:r>
            <a:endParaRPr b="0" sz="11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048375" y="3381375"/>
            <a:ext cx="26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Predicted vs Measured Binding Affinity with ESM with attention</a:t>
            </a:r>
            <a:endParaRPr sz="11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28625" y="3381375"/>
            <a:ext cx="26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Predicted vs Measured Binding Affinity (Baseline Reproduce</a:t>
            </a:r>
            <a:r>
              <a:rPr lang="en" sz="11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0" lang="en" sz="1100">
                <a:solidFill>
                  <a:srgbClr val="131313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b="0" sz="1100">
              <a:solidFill>
                <a:srgbClr val="1313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0" y="1163309"/>
            <a:ext cx="2759974" cy="206566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825" y="1157348"/>
            <a:ext cx="2759974" cy="20775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768" y="1157343"/>
            <a:ext cx="2774450" cy="20775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29300" y="1986275"/>
            <a:ext cx="2885400" cy="116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Roboto Mono"/>
                <a:ea typeface="Roboto Mono"/>
                <a:cs typeface="Roboto Mono"/>
                <a:sym typeface="Roboto Mono"/>
              </a:rPr>
              <a:t>Questions?</a:t>
            </a:r>
            <a:endParaRPr b="1" sz="6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2122650" y="1894825"/>
            <a:ext cx="4898700" cy="116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Roboto Mono"/>
                <a:ea typeface="Roboto Mono"/>
                <a:cs typeface="Roboto Mono"/>
                <a:sym typeface="Roboto Mono"/>
              </a:rPr>
              <a:t>THANK YOU</a:t>
            </a:r>
            <a:endParaRPr b="1" sz="6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2122650" y="1894825"/>
            <a:ext cx="4898700" cy="116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Roboto Mono"/>
                <a:ea typeface="Roboto Mono"/>
                <a:cs typeface="Roboto Mono"/>
                <a:sym typeface="Roboto Mono"/>
              </a:rPr>
              <a:t>Appendix</a:t>
            </a:r>
            <a:endParaRPr b="1" sz="6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2541250" y="156306"/>
            <a:ext cx="4244400" cy="8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DeepGLSTM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82000" y="903806"/>
            <a:ext cx="8580000" cy="4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Better accuracy prediction score using two main functional modules.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SMILES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notation is used to represent the drug compound molecules as a graph, using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RDKit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The model uses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GCN blocks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to capture topological information from drugs with adjacency matrices upto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two hop distance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, resulting in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graph embedding.</a:t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Bi-LSTM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is used to capture sequential information from protein sequences converting them into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protein embeddings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Followed by </a:t>
            </a: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concatenation of the embeddings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which is then passed through fully connected layers.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507450" y="77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Experimental Results 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118" name="Google Shape;118;p22"/>
          <p:cNvGraphicFramePr/>
          <p:nvPr/>
        </p:nvGraphicFramePr>
        <p:xfrm>
          <a:off x="1012313" y="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{8F02C7C9-020A-4DDC-BB5F-DFA350C179DC}</a:tableStyleId>
              </a:tblPr>
              <a:tblGrid>
                <a:gridCol w="944000"/>
                <a:gridCol w="855150"/>
                <a:gridCol w="1110550"/>
                <a:gridCol w="866225"/>
                <a:gridCol w="1188325"/>
                <a:gridCol w="899575"/>
                <a:gridCol w="1121675"/>
              </a:tblGrid>
              <a:tr h="41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Dataset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MSE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r^2_m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69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Paper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Reproduced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Results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Davis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0.232 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0.387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0.895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0.832	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0.680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0.479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KIBA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0.133 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0.382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0.897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0.768	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0.792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0.412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Metz</a:t>
                      </a:r>
                      <a:endParaRPr b="1"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0.294 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0.41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0.810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0.767	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0.640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0.516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22"/>
          <p:cNvSpPr txBox="1"/>
          <p:nvPr/>
        </p:nvSpPr>
        <p:spPr>
          <a:xfrm>
            <a:off x="283475" y="3526950"/>
            <a:ext cx="8129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Robust Ranking Capability: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Achieved a strong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Concordance Index (CI) of 0.832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on Davis, proving the model correctly distinguishes high vs. low affinity pairs despite limited training data.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Expected Performance Gap: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MSE increased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(0.387 vs. 0.232) and r_m^2 dropped as a direct result of training on a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30% data subset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Successful Convergence: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The model effectively learned predictive patterns across all metrics (MSE, CI, r_m^2) within just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400 epochs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demonstrating architectural robustness.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10250" y="111900"/>
            <a:ext cx="8323500" cy="6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 Mono"/>
                <a:ea typeface="Roboto Mono"/>
                <a:cs typeface="Roboto Mono"/>
                <a:sym typeface="Roboto Mono"/>
              </a:rPr>
              <a:t>Qualitative Analysis </a:t>
            </a:r>
            <a:endParaRPr b="1" sz="30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25" y="896350"/>
            <a:ext cx="5328355" cy="37762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23"/>
          <p:cNvSpPr txBox="1"/>
          <p:nvPr/>
        </p:nvSpPr>
        <p:spPr>
          <a:xfrm>
            <a:off x="5573725" y="733175"/>
            <a:ext cx="3570300" cy="4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Correlation Confirmed: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Reproduced plots track the diagonal (y=x) effectively, validating that the model learned the fundamental binding physics despite constraints .</a:t>
            </a:r>
            <a:br>
              <a:rPr lang="en" sz="1300">
                <a:latin typeface="Roboto"/>
                <a:ea typeface="Roboto"/>
                <a:cs typeface="Roboto"/>
                <a:sym typeface="Roboto"/>
              </a:rPr>
            </a:br>
            <a:endParaRPr b="1"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Variance vs. Data (Davis):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The reproduction shows a 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wider prediction spread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(visual noise) compared to the paper's tight clustering, directly resulting from training on only </a:t>
            </a: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30% of the data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.</a:t>
            </a:r>
            <a:br>
              <a:rPr lang="en" sz="1300">
                <a:latin typeface="Roboto"/>
                <a:ea typeface="Roboto"/>
                <a:cs typeface="Roboto"/>
                <a:sym typeface="Roboto"/>
              </a:rPr>
            </a:b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Saturation Effect (KIBA):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High-density region shows model slightly under-predicts extreme high-affinity values (top-right), side effect of reducing training from 1000 to 400 epochs.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